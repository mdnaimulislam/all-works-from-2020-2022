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sldIdLst>
    <p:sldId id="256" r:id="rId2"/>
    <p:sldId id="283" r:id="rId3"/>
    <p:sldId id="257" r:id="rId4"/>
    <p:sldId id="276" r:id="rId5"/>
    <p:sldId id="277" r:id="rId6"/>
    <p:sldId id="278" r:id="rId7"/>
    <p:sldId id="279" r:id="rId8"/>
    <p:sldId id="280" r:id="rId9"/>
    <p:sldId id="284" r:id="rId10"/>
    <p:sldId id="27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D6EB"/>
    <a:srgbClr val="C6D7EB"/>
    <a:srgbClr val="D4DAE3"/>
    <a:srgbClr val="D1D8D5"/>
    <a:srgbClr val="D2D8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18" autoAdjust="0"/>
    <p:restoredTop sz="92081" autoAdjust="0"/>
  </p:normalViewPr>
  <p:slideViewPr>
    <p:cSldViewPr snapToGrid="0">
      <p:cViewPr varScale="1">
        <p:scale>
          <a:sx n="67" d="100"/>
          <a:sy n="67" d="100"/>
        </p:scale>
        <p:origin x="89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30EC3C-AFDC-48B7-AE14-F9989FCFD720}" type="datetimeFigureOut">
              <a:rPr lang="en-US" smtClean="0"/>
              <a:t>10/21/2019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261B3F-567E-432C-96A9-D65D499A1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230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261B3F-567E-432C-96A9-D65D499A148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5675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261B3F-567E-432C-96A9-D65D499A148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6904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261B3F-567E-432C-96A9-D65D499A148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2187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261B3F-567E-432C-96A9-D65D499A148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0262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261B3F-567E-432C-96A9-D65D499A148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3341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261B3F-567E-432C-96A9-D65D499A148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9723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261B3F-567E-432C-96A9-D65D499A148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705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D704C-CE29-442D-AF1F-59106303D4A8}" type="datetime1">
              <a:rPr lang="en-US" smtClean="0"/>
              <a:t>10/21/2019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12886-585D-4757-AD3C-FC81B549B6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104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CFCC-FF9C-4C49-8AE4-CF53D4300041}" type="datetime1">
              <a:rPr lang="en-US" smtClean="0"/>
              <a:t>10/21/2019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12886-585D-4757-AD3C-FC81B549B6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814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B6A1E-3615-42D4-8374-AFF9FBCED602}" type="datetime1">
              <a:rPr lang="en-US" smtClean="0"/>
              <a:t>10/21/2019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12886-585D-4757-AD3C-FC81B549B6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638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EBAD-A9DB-4F9A-BDF5-4C9ABDA69D69}" type="datetime1">
              <a:rPr lang="en-US" smtClean="0"/>
              <a:t>10/21/2019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12886-585D-4757-AD3C-FC81B549B6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79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F33CC-CBE1-4B97-9DE1-D0D1397567EB}" type="datetime1">
              <a:rPr lang="en-US" smtClean="0"/>
              <a:t>10/21/2019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12886-585D-4757-AD3C-FC81B549B6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366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552DB-CAF4-4A3D-8AF6-706E7802E48E}" type="datetime1">
              <a:rPr lang="en-US" smtClean="0"/>
              <a:t>10/21/2019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12886-585D-4757-AD3C-FC81B549B6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844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0D2E3-73B2-4AC4-AA13-AE279616A608}" type="datetime1">
              <a:rPr lang="en-US" smtClean="0"/>
              <a:t>10/21/2019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12886-585D-4757-AD3C-FC81B549B6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31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F6EBA-C821-4BB3-8B68-C38F4D2A6F79}" type="datetime1">
              <a:rPr lang="en-US" smtClean="0"/>
              <a:t>10/21/2019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12886-585D-4757-AD3C-FC81B549B6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360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2BFCA-9381-463B-9427-AC824EAA3C84}" type="datetime1">
              <a:rPr lang="en-US" smtClean="0"/>
              <a:t>10/21/2019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12886-585D-4757-AD3C-FC81B549B6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169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3260B-C429-4CB5-82FB-F17A50EFF2EC}" type="datetime1">
              <a:rPr lang="en-US" smtClean="0"/>
              <a:t>10/21/2019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12886-585D-4757-AD3C-FC81B549B6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418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B10ED-9BA7-40F1-BB7E-2A17F2CE8F3B}" type="datetime1">
              <a:rPr lang="en-US" smtClean="0"/>
              <a:t>10/21/2019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12886-585D-4757-AD3C-FC81B549B6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932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B519D8-6A0B-4041-99DC-049ADB0C0C31}" type="datetime1">
              <a:rPr lang="en-US" smtClean="0"/>
              <a:t>10/21/2019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12886-585D-4757-AD3C-FC81B549B6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942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D1D8D5"/>
            </a:gs>
            <a:gs pos="45000">
              <a:srgbClr val="D4DAE3"/>
            </a:gs>
            <a:gs pos="71000">
              <a:srgbClr val="C6D6EB"/>
            </a:gs>
            <a:gs pos="91000">
              <a:srgbClr val="C6D7EB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B03B86AF-557B-422F-8E82-AA3A7CC780A8}"/>
              </a:ext>
            </a:extLst>
          </p:cNvPr>
          <p:cNvSpPr/>
          <p:nvPr/>
        </p:nvSpPr>
        <p:spPr>
          <a:xfrm>
            <a:off x="714375" y="786139"/>
            <a:ext cx="749617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 499A: Senior Project Design</a:t>
            </a:r>
            <a:endParaRPr lang="en-US" sz="4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86B17A5-E2D2-4754-953E-E2B751C015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425" b="97945" l="2244" r="98077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05825" y="103375"/>
            <a:ext cx="2971800" cy="278130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1CF7221A-89A7-4849-A690-EA4AB0FAD6F6}"/>
              </a:ext>
            </a:extLst>
          </p:cNvPr>
          <p:cNvSpPr/>
          <p:nvPr/>
        </p:nvSpPr>
        <p:spPr>
          <a:xfrm>
            <a:off x="8106595" y="2884675"/>
            <a:ext cx="4085405" cy="2781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3200" b="1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383CC2F-F617-4E80-8FB6-0B3EE52E6D86}"/>
              </a:ext>
            </a:extLst>
          </p:cNvPr>
          <p:cNvSpPr/>
          <p:nvPr/>
        </p:nvSpPr>
        <p:spPr>
          <a:xfrm>
            <a:off x="3193143" y="2823459"/>
            <a:ext cx="564325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>
                <a:solidFill>
                  <a:schemeClr val="tx1">
                    <a:lumMod val="85000"/>
                  </a:schemeClr>
                </a:solidFill>
              </a:rPr>
              <a:t>Member-1</a:t>
            </a:r>
            <a:r>
              <a:rPr lang="en-US" sz="2400" dirty="0">
                <a:solidFill>
                  <a:schemeClr val="tx1">
                    <a:lumMod val="85000"/>
                  </a:schemeClr>
                </a:solidFill>
              </a:rPr>
              <a:t>: Md Naimul Islam Suvon  </a:t>
            </a:r>
          </a:p>
          <a:p>
            <a:r>
              <a:rPr lang="en-US" sz="2400" i="1" dirty="0">
                <a:solidFill>
                  <a:schemeClr val="tx1">
                    <a:lumMod val="85000"/>
                  </a:schemeClr>
                </a:solidFill>
              </a:rPr>
              <a:t>Id: </a:t>
            </a:r>
            <a:r>
              <a:rPr lang="en-US" sz="2400" dirty="0">
                <a:solidFill>
                  <a:schemeClr val="tx1">
                    <a:lumMod val="85000"/>
                  </a:schemeClr>
                </a:solidFill>
              </a:rPr>
              <a:t>1712252642    </a:t>
            </a:r>
          </a:p>
          <a:p>
            <a:endParaRPr lang="en-US" sz="2400" dirty="0">
              <a:solidFill>
                <a:schemeClr val="tx1">
                  <a:lumMod val="85000"/>
                </a:schemeClr>
              </a:solidFill>
            </a:endParaRPr>
          </a:p>
          <a:p>
            <a:r>
              <a:rPr lang="en-US" sz="2400" i="1" dirty="0">
                <a:solidFill>
                  <a:schemeClr val="tx1">
                    <a:lumMod val="85000"/>
                  </a:schemeClr>
                </a:solidFill>
              </a:rPr>
              <a:t>Member-2: </a:t>
            </a:r>
            <a:r>
              <a:rPr lang="en-US" sz="2400" i="1" dirty="0" err="1">
                <a:solidFill>
                  <a:schemeClr val="tx1">
                    <a:lumMod val="85000"/>
                  </a:schemeClr>
                </a:solidFill>
              </a:rPr>
              <a:t>Mehebuba</a:t>
            </a:r>
            <a:r>
              <a:rPr lang="en-US" sz="2400" i="1" dirty="0">
                <a:solidFill>
                  <a:schemeClr val="tx1">
                    <a:lumMod val="85000"/>
                  </a:schemeClr>
                </a:solidFill>
              </a:rPr>
              <a:t> Ferdous</a:t>
            </a:r>
            <a:endParaRPr lang="en-US" sz="2400" dirty="0">
              <a:solidFill>
                <a:schemeClr val="tx1">
                  <a:lumMod val="85000"/>
                </a:schemeClr>
              </a:solidFill>
            </a:endParaRPr>
          </a:p>
          <a:p>
            <a:r>
              <a:rPr lang="en-US" sz="2400" i="1" dirty="0">
                <a:solidFill>
                  <a:schemeClr val="tx1">
                    <a:lumMod val="85000"/>
                  </a:schemeClr>
                </a:solidFill>
              </a:rPr>
              <a:t>Id: 1620600042</a:t>
            </a:r>
            <a:endParaRPr lang="en-US" sz="2400" dirty="0">
              <a:solidFill>
                <a:schemeClr val="tx1">
                  <a:lumMod val="85000"/>
                </a:schemeClr>
              </a:solidFill>
            </a:endParaRPr>
          </a:p>
          <a:p>
            <a:endParaRPr lang="en-US" sz="2400" b="1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C99A1EF-6EC8-4BD4-A8BB-BAEC79CDB4EB}"/>
              </a:ext>
            </a:extLst>
          </p:cNvPr>
          <p:cNvSpPr/>
          <p:nvPr/>
        </p:nvSpPr>
        <p:spPr>
          <a:xfrm>
            <a:off x="3078545" y="2762243"/>
            <a:ext cx="5010150" cy="2158100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3A8E361-FFA7-461C-A187-4D74E90D962A}"/>
              </a:ext>
            </a:extLst>
          </p:cNvPr>
          <p:cNvSpPr/>
          <p:nvPr/>
        </p:nvSpPr>
        <p:spPr>
          <a:xfrm>
            <a:off x="529514" y="6137431"/>
            <a:ext cx="24624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>
                <a:solidFill>
                  <a:schemeClr val="tx1">
                    <a:lumMod val="85000"/>
                  </a:schemeClr>
                </a:solidFill>
              </a:rPr>
              <a:t>Date: 21</a:t>
            </a:r>
            <a:r>
              <a:rPr lang="en-US" i="1" baseline="30000" dirty="0">
                <a:solidFill>
                  <a:schemeClr val="tx1">
                    <a:lumMod val="85000"/>
                  </a:schemeClr>
                </a:solidFill>
              </a:rPr>
              <a:t>st</a:t>
            </a:r>
            <a:r>
              <a:rPr lang="en-US" baseline="3000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 October 2019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17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D1D8D5"/>
            </a:gs>
            <a:gs pos="45000">
              <a:srgbClr val="D4DAE3"/>
            </a:gs>
            <a:gs pos="71000">
              <a:srgbClr val="C6D6EB"/>
            </a:gs>
            <a:gs pos="91000">
              <a:srgbClr val="C6D7EB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10243" y="4389029"/>
            <a:ext cx="11283042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 PARKING MANAGEMENT SYSTEM USING DEEP LEARING METHODS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DD7F22-4734-4CD5-91C1-412D1F0FFD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6629" y="114304"/>
            <a:ext cx="6809016" cy="397100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3F3A37E-C8DD-423E-ABA4-98EE9111CC84}"/>
              </a:ext>
            </a:extLst>
          </p:cNvPr>
          <p:cNvCxnSpPr>
            <a:cxnSpLocks/>
          </p:cNvCxnSpPr>
          <p:nvPr/>
        </p:nvCxnSpPr>
        <p:spPr>
          <a:xfrm>
            <a:off x="936171" y="4237166"/>
            <a:ext cx="10319657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2962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1D8D5"/>
            </a:gs>
            <a:gs pos="45000">
              <a:srgbClr val="D4DAE3"/>
            </a:gs>
            <a:gs pos="71000">
              <a:srgbClr val="C6D6EB"/>
            </a:gs>
            <a:gs pos="91000">
              <a:srgbClr val="C6D7EB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8C2488-E1E9-41AD-BC4A-AD4EF79D8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2400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DDA3802-E351-4655-ABEB-08A6E1C3DCD7}"/>
              </a:ext>
            </a:extLst>
          </p:cNvPr>
          <p:cNvSpPr txBox="1">
            <a:spLocks/>
          </p:cNvSpPr>
          <p:nvPr/>
        </p:nvSpPr>
        <p:spPr>
          <a:xfrm>
            <a:off x="1097280" y="286604"/>
            <a:ext cx="10058400" cy="111137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Past &amp; Related Work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0707A2D-99F3-4744-9C6E-C42F803C2132}"/>
              </a:ext>
            </a:extLst>
          </p:cNvPr>
          <p:cNvCxnSpPr>
            <a:cxnSpLocks/>
          </p:cNvCxnSpPr>
          <p:nvPr/>
        </p:nvCxnSpPr>
        <p:spPr>
          <a:xfrm>
            <a:off x="836023" y="1183723"/>
            <a:ext cx="10319657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B064268F-FC00-4866-8FD3-01BE87D10DC1}"/>
              </a:ext>
            </a:extLst>
          </p:cNvPr>
          <p:cNvSpPr/>
          <p:nvPr/>
        </p:nvSpPr>
        <p:spPr>
          <a:xfrm>
            <a:off x="1484216" y="3798509"/>
            <a:ext cx="1054782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“Bangla License Plate Recognition Using Convolutional Neural Networks (CNN)” Undergraduate Thesis Paper by M </a:t>
            </a:r>
            <a:r>
              <a:rPr lang="en-US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Shaifur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Rahman, December 24, 2017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C838014-FB87-4EE4-A104-3994B2D81616}"/>
              </a:ext>
            </a:extLst>
          </p:cNvPr>
          <p:cNvSpPr/>
          <p:nvPr/>
        </p:nvSpPr>
        <p:spPr>
          <a:xfrm>
            <a:off x="1484216" y="1907757"/>
            <a:ext cx="1054782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Plate Recognition for use in different countries using an improved segmentation , Conference Paper  in March 2011 by </a:t>
            </a:r>
            <a:r>
              <a:rPr lang="en-US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Debarshi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Patanjali Ghoshal McGill University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A3BDF0E-4732-4622-B5FD-00FA4912C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907757"/>
            <a:ext cx="366178" cy="33265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1CC4EEA-8DED-4143-B68F-EC3CCFAD25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038" y="3801533"/>
            <a:ext cx="366178" cy="332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157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1D8D5"/>
            </a:gs>
            <a:gs pos="45000">
              <a:srgbClr val="D4DAE3"/>
            </a:gs>
            <a:gs pos="71000">
              <a:srgbClr val="C6D6EB"/>
            </a:gs>
            <a:gs pos="91000">
              <a:srgbClr val="C6D7EB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8C2488-E1E9-41AD-BC4A-AD4EF79D8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DDA3802-E351-4655-ABEB-08A6E1C3DCD7}"/>
              </a:ext>
            </a:extLst>
          </p:cNvPr>
          <p:cNvSpPr txBox="1">
            <a:spLocks/>
          </p:cNvSpPr>
          <p:nvPr/>
        </p:nvSpPr>
        <p:spPr>
          <a:xfrm>
            <a:off x="1097280" y="286604"/>
            <a:ext cx="10058400" cy="111137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0707A2D-99F3-4744-9C6E-C42F803C2132}"/>
              </a:ext>
            </a:extLst>
          </p:cNvPr>
          <p:cNvCxnSpPr>
            <a:cxnSpLocks/>
          </p:cNvCxnSpPr>
          <p:nvPr/>
        </p:nvCxnSpPr>
        <p:spPr>
          <a:xfrm>
            <a:off x="836023" y="1183723"/>
            <a:ext cx="10319657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B064268F-FC00-4866-8FD3-01BE87D10DC1}"/>
              </a:ext>
            </a:extLst>
          </p:cNvPr>
          <p:cNvSpPr/>
          <p:nvPr/>
        </p:nvSpPr>
        <p:spPr>
          <a:xfrm>
            <a:off x="1484216" y="3798509"/>
            <a:ext cx="1054782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of Mathematical Model ,Learn Python the Hard Way ,Book by Zed Shaw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C838014-FB87-4EE4-A104-3994B2D81616}"/>
              </a:ext>
            </a:extLst>
          </p:cNvPr>
          <p:cNvSpPr/>
          <p:nvPr/>
        </p:nvSpPr>
        <p:spPr>
          <a:xfrm>
            <a:off x="1484216" y="1859162"/>
            <a:ext cx="1054782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Complete Project with it´s application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A3BDF0E-4732-4622-B5FD-00FA4912C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907757"/>
            <a:ext cx="366178" cy="33265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1CC4EEA-8DED-4143-B68F-EC3CCFAD25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038" y="3801533"/>
            <a:ext cx="366178" cy="33265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06ED8BC-7609-432C-B6B1-E403162DA646}"/>
              </a:ext>
            </a:extLst>
          </p:cNvPr>
          <p:cNvSpPr/>
          <p:nvPr/>
        </p:nvSpPr>
        <p:spPr>
          <a:xfrm>
            <a:off x="1484216" y="2744845"/>
            <a:ext cx="1054782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Hardware and Software Both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1AAAAD5-7D79-42E1-8332-FE76BAA9F6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793440"/>
            <a:ext cx="366178" cy="332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911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1D8D5"/>
            </a:gs>
            <a:gs pos="45000">
              <a:srgbClr val="D4DAE3"/>
            </a:gs>
            <a:gs pos="71000">
              <a:srgbClr val="C6D6EB"/>
            </a:gs>
            <a:gs pos="91000">
              <a:srgbClr val="C6D7EB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8C2488-E1E9-41AD-BC4A-AD4EF79D8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2400" dirty="0">
                <a:solidFill>
                  <a:srgbClr val="002060"/>
                </a:solidFill>
              </a:rPr>
              <a:t>3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DDA3802-E351-4655-ABEB-08A6E1C3DCD7}"/>
              </a:ext>
            </a:extLst>
          </p:cNvPr>
          <p:cNvSpPr txBox="1">
            <a:spLocks/>
          </p:cNvSpPr>
          <p:nvPr/>
        </p:nvSpPr>
        <p:spPr>
          <a:xfrm>
            <a:off x="836023" y="213737"/>
            <a:ext cx="10058400" cy="111137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Work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0707A2D-99F3-4744-9C6E-C42F803C2132}"/>
              </a:ext>
            </a:extLst>
          </p:cNvPr>
          <p:cNvCxnSpPr>
            <a:cxnSpLocks/>
          </p:cNvCxnSpPr>
          <p:nvPr/>
        </p:nvCxnSpPr>
        <p:spPr>
          <a:xfrm>
            <a:off x="836023" y="1125666"/>
            <a:ext cx="10319657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109AE174-0802-45A3-92BB-BC6E9EDF1D5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795" y="1525156"/>
            <a:ext cx="1850555" cy="1111374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8064DDD-A0F8-4784-8332-65A6A7BFCA51}"/>
              </a:ext>
            </a:extLst>
          </p:cNvPr>
          <p:cNvSpPr/>
          <p:nvPr/>
        </p:nvSpPr>
        <p:spPr>
          <a:xfrm>
            <a:off x="152633" y="1737234"/>
            <a:ext cx="840377" cy="59979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09750938-E3A2-43BE-879C-E907917E3C84}"/>
              </a:ext>
            </a:extLst>
          </p:cNvPr>
          <p:cNvSpPr/>
          <p:nvPr/>
        </p:nvSpPr>
        <p:spPr>
          <a:xfrm flipV="1">
            <a:off x="1029789" y="1989707"/>
            <a:ext cx="522515" cy="1518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241EEFC-65EE-4A10-87E7-665387790A46}"/>
              </a:ext>
            </a:extLst>
          </p:cNvPr>
          <p:cNvSpPr/>
          <p:nvPr/>
        </p:nvSpPr>
        <p:spPr>
          <a:xfrm>
            <a:off x="4127848" y="1655412"/>
            <a:ext cx="1289958" cy="76344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Capture Frame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6EE792B-1701-46C5-87E5-D8025D692326}"/>
              </a:ext>
            </a:extLst>
          </p:cNvPr>
          <p:cNvSpPr/>
          <p:nvPr/>
        </p:nvSpPr>
        <p:spPr>
          <a:xfrm>
            <a:off x="6117788" y="1610807"/>
            <a:ext cx="1493520" cy="93829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Processing</a:t>
            </a:r>
          </a:p>
        </p:txBody>
      </p:sp>
      <p:sp>
        <p:nvSpPr>
          <p:cNvPr id="22" name="Flowchart: Decision 21">
            <a:extLst>
              <a:ext uri="{FF2B5EF4-FFF2-40B4-BE49-F238E27FC236}">
                <a16:creationId xmlns:a16="http://schemas.microsoft.com/office/drawing/2014/main" id="{326E6EC1-10D7-4337-B557-47F6AC5AC93E}"/>
              </a:ext>
            </a:extLst>
          </p:cNvPr>
          <p:cNvSpPr/>
          <p:nvPr/>
        </p:nvSpPr>
        <p:spPr>
          <a:xfrm>
            <a:off x="8595870" y="1579582"/>
            <a:ext cx="3174785" cy="981118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Recognize Number Plate</a:t>
            </a:r>
          </a:p>
        </p:txBody>
      </p:sp>
      <p:sp>
        <p:nvSpPr>
          <p:cNvPr id="26" name="Arrow: U-Turn 25">
            <a:extLst>
              <a:ext uri="{FF2B5EF4-FFF2-40B4-BE49-F238E27FC236}">
                <a16:creationId xmlns:a16="http://schemas.microsoft.com/office/drawing/2014/main" id="{03C9F96D-8AA1-40F8-A75C-05147CADD87E}"/>
              </a:ext>
            </a:extLst>
          </p:cNvPr>
          <p:cNvSpPr/>
          <p:nvPr/>
        </p:nvSpPr>
        <p:spPr>
          <a:xfrm rot="10800000" flipV="1">
            <a:off x="4615542" y="1235932"/>
            <a:ext cx="5604595" cy="372660"/>
          </a:xfrm>
          <a:prstGeom prst="uturnArrow">
            <a:avLst>
              <a:gd name="adj1" fmla="val 17446"/>
              <a:gd name="adj2" fmla="val 25000"/>
              <a:gd name="adj3" fmla="val 25000"/>
              <a:gd name="adj4" fmla="val 43750"/>
              <a:gd name="adj5" fmla="val 7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0768F14-6447-4C18-A7E2-047A7B90FDAD}"/>
              </a:ext>
            </a:extLst>
          </p:cNvPr>
          <p:cNvSpPr txBox="1"/>
          <p:nvPr/>
        </p:nvSpPr>
        <p:spPr>
          <a:xfrm>
            <a:off x="9424669" y="1318530"/>
            <a:ext cx="557531" cy="37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E9BF0AB7-64EA-44D6-9570-0D37ED8E5387}"/>
              </a:ext>
            </a:extLst>
          </p:cNvPr>
          <p:cNvSpPr/>
          <p:nvPr/>
        </p:nvSpPr>
        <p:spPr>
          <a:xfrm>
            <a:off x="10057711" y="2660511"/>
            <a:ext cx="191875" cy="117209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438F518-A0DD-497E-8A1E-471157EBE351}"/>
              </a:ext>
            </a:extLst>
          </p:cNvPr>
          <p:cNvSpPr txBox="1"/>
          <p:nvPr/>
        </p:nvSpPr>
        <p:spPr>
          <a:xfrm>
            <a:off x="10349932" y="2670603"/>
            <a:ext cx="700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BACD788-7206-4E28-90D3-055CBF86306D}"/>
              </a:ext>
            </a:extLst>
          </p:cNvPr>
          <p:cNvSpPr/>
          <p:nvPr/>
        </p:nvSpPr>
        <p:spPr>
          <a:xfrm>
            <a:off x="9052030" y="4000500"/>
            <a:ext cx="2171700" cy="71389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Plate Extraction</a:t>
            </a:r>
          </a:p>
        </p:txBody>
      </p:sp>
      <p:sp>
        <p:nvSpPr>
          <p:cNvPr id="31" name="Arrow: Down 30">
            <a:extLst>
              <a:ext uri="{FF2B5EF4-FFF2-40B4-BE49-F238E27FC236}">
                <a16:creationId xmlns:a16="http://schemas.microsoft.com/office/drawing/2014/main" id="{F3668934-21D7-4248-98B9-193469BE749C}"/>
              </a:ext>
            </a:extLst>
          </p:cNvPr>
          <p:cNvSpPr/>
          <p:nvPr/>
        </p:nvSpPr>
        <p:spPr>
          <a:xfrm>
            <a:off x="10057711" y="4783647"/>
            <a:ext cx="191875" cy="66083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298C694-3D6B-480B-8829-D0262A894468}"/>
              </a:ext>
            </a:extLst>
          </p:cNvPr>
          <p:cNvSpPr/>
          <p:nvPr/>
        </p:nvSpPr>
        <p:spPr>
          <a:xfrm>
            <a:off x="9052030" y="5460022"/>
            <a:ext cx="2103650" cy="6291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Recognize Bangla Characters</a:t>
            </a:r>
          </a:p>
        </p:txBody>
      </p:sp>
      <p:sp>
        <p:nvSpPr>
          <p:cNvPr id="33" name="Arrow: Left 32">
            <a:extLst>
              <a:ext uri="{FF2B5EF4-FFF2-40B4-BE49-F238E27FC236}">
                <a16:creationId xmlns:a16="http://schemas.microsoft.com/office/drawing/2014/main" id="{44676B36-71D2-4676-A2D3-422406792A56}"/>
              </a:ext>
            </a:extLst>
          </p:cNvPr>
          <p:cNvSpPr/>
          <p:nvPr/>
        </p:nvSpPr>
        <p:spPr>
          <a:xfrm>
            <a:off x="8156134" y="5674277"/>
            <a:ext cx="895896" cy="116923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D70D4EA-A02C-4DA1-A475-6546AAA696DE}"/>
              </a:ext>
            </a:extLst>
          </p:cNvPr>
          <p:cNvSpPr/>
          <p:nvPr/>
        </p:nvSpPr>
        <p:spPr>
          <a:xfrm>
            <a:off x="6343650" y="5375232"/>
            <a:ext cx="1718468" cy="71389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Character Output</a:t>
            </a:r>
          </a:p>
        </p:txBody>
      </p:sp>
      <p:sp>
        <p:nvSpPr>
          <p:cNvPr id="35" name="Arrow: Left 34">
            <a:extLst>
              <a:ext uri="{FF2B5EF4-FFF2-40B4-BE49-F238E27FC236}">
                <a16:creationId xmlns:a16="http://schemas.microsoft.com/office/drawing/2014/main" id="{96759C83-DA6F-456A-9846-376ACE8AE615}"/>
              </a:ext>
            </a:extLst>
          </p:cNvPr>
          <p:cNvSpPr/>
          <p:nvPr/>
        </p:nvSpPr>
        <p:spPr>
          <a:xfrm>
            <a:off x="5386210" y="5657650"/>
            <a:ext cx="895896" cy="116923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85114709-418B-41E2-A2F0-5B0342D618F0}"/>
              </a:ext>
            </a:extLst>
          </p:cNvPr>
          <p:cNvSpPr/>
          <p:nvPr/>
        </p:nvSpPr>
        <p:spPr>
          <a:xfrm>
            <a:off x="3659050" y="5359164"/>
            <a:ext cx="1718468" cy="71389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 in Database</a:t>
            </a:r>
          </a:p>
        </p:txBody>
      </p:sp>
      <p:sp>
        <p:nvSpPr>
          <p:cNvPr id="37" name="Arrow: Left 36">
            <a:extLst>
              <a:ext uri="{FF2B5EF4-FFF2-40B4-BE49-F238E27FC236}">
                <a16:creationId xmlns:a16="http://schemas.microsoft.com/office/drawing/2014/main" id="{C31E6AB9-C388-41CD-933B-7948AC5D6418}"/>
              </a:ext>
            </a:extLst>
          </p:cNvPr>
          <p:cNvSpPr/>
          <p:nvPr/>
        </p:nvSpPr>
        <p:spPr>
          <a:xfrm>
            <a:off x="2679466" y="5674277"/>
            <a:ext cx="895896" cy="116923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849090BF-60D5-4640-96F2-6F116BAAAE53}"/>
              </a:ext>
            </a:extLst>
          </p:cNvPr>
          <p:cNvSpPr/>
          <p:nvPr/>
        </p:nvSpPr>
        <p:spPr>
          <a:xfrm>
            <a:off x="699641" y="5359164"/>
            <a:ext cx="1932817" cy="71389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or Desktop Application</a:t>
            </a:r>
          </a:p>
        </p:txBody>
      </p:sp>
      <p:sp>
        <p:nvSpPr>
          <p:cNvPr id="39" name="Arrow: Up 38">
            <a:extLst>
              <a:ext uri="{FF2B5EF4-FFF2-40B4-BE49-F238E27FC236}">
                <a16:creationId xmlns:a16="http://schemas.microsoft.com/office/drawing/2014/main" id="{16C6F85E-BAA6-474D-916B-153FE94EF5E0}"/>
              </a:ext>
            </a:extLst>
          </p:cNvPr>
          <p:cNvSpPr/>
          <p:nvPr/>
        </p:nvSpPr>
        <p:spPr>
          <a:xfrm>
            <a:off x="1474173" y="4598838"/>
            <a:ext cx="191876" cy="734006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B9D995E9-6996-4D2A-8F0F-7CD89AD3DE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425" b="97945" l="2244" r="98077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48018" y="2627396"/>
            <a:ext cx="2971800" cy="2781300"/>
          </a:xfrm>
          <a:prstGeom prst="rect">
            <a:avLst/>
          </a:prstGeom>
        </p:spPr>
      </p:pic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B193AA0A-AE73-43B7-921E-13874BBB7214}"/>
              </a:ext>
            </a:extLst>
          </p:cNvPr>
          <p:cNvSpPr/>
          <p:nvPr/>
        </p:nvSpPr>
        <p:spPr>
          <a:xfrm>
            <a:off x="1149922" y="3959016"/>
            <a:ext cx="840377" cy="59979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61AB9C05-B54C-4311-9B89-E5C5F0D04B2E}"/>
              </a:ext>
            </a:extLst>
          </p:cNvPr>
          <p:cNvSpPr/>
          <p:nvPr/>
        </p:nvSpPr>
        <p:spPr>
          <a:xfrm flipV="1">
            <a:off x="3496444" y="2004013"/>
            <a:ext cx="522515" cy="1518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8D877347-F841-44BE-85E6-C8A274827956}"/>
              </a:ext>
            </a:extLst>
          </p:cNvPr>
          <p:cNvSpPr/>
          <p:nvPr/>
        </p:nvSpPr>
        <p:spPr>
          <a:xfrm flipV="1">
            <a:off x="5550973" y="1992796"/>
            <a:ext cx="522515" cy="1518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Arrow: Right 43">
            <a:extLst>
              <a:ext uri="{FF2B5EF4-FFF2-40B4-BE49-F238E27FC236}">
                <a16:creationId xmlns:a16="http://schemas.microsoft.com/office/drawing/2014/main" id="{9DC615E9-F1AC-4C79-92FD-1DE832ABCC17}"/>
              </a:ext>
            </a:extLst>
          </p:cNvPr>
          <p:cNvSpPr/>
          <p:nvPr/>
        </p:nvSpPr>
        <p:spPr>
          <a:xfrm flipV="1">
            <a:off x="7655641" y="2005852"/>
            <a:ext cx="895896" cy="15004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956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D1D8D5"/>
            </a:gs>
            <a:gs pos="45000">
              <a:srgbClr val="D4DAE3"/>
            </a:gs>
            <a:gs pos="71000">
              <a:srgbClr val="C6D6EB"/>
            </a:gs>
            <a:gs pos="91000">
              <a:srgbClr val="C6D7EB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C1C7A2D9-99E0-4FD7-837F-FA952916427B}"/>
              </a:ext>
            </a:extLst>
          </p:cNvPr>
          <p:cNvSpPr txBox="1">
            <a:spLocks/>
          </p:cNvSpPr>
          <p:nvPr/>
        </p:nvSpPr>
        <p:spPr>
          <a:xfrm>
            <a:off x="849084" y="4664110"/>
            <a:ext cx="10493829" cy="11430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3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ELECTRONIC TOLL  COLLECTION SYSTEM USING RFID TECNOLOGY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B48C125-7FFC-4837-9C98-F2AA800208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49" y="117253"/>
            <a:ext cx="6164874" cy="4084856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050A587-8EAD-4C5C-8738-1C8114E01258}"/>
              </a:ext>
            </a:extLst>
          </p:cNvPr>
          <p:cNvCxnSpPr>
            <a:cxnSpLocks/>
          </p:cNvCxnSpPr>
          <p:nvPr/>
        </p:nvCxnSpPr>
        <p:spPr>
          <a:xfrm>
            <a:off x="936171" y="4433109"/>
            <a:ext cx="10319657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9754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1D8D5"/>
            </a:gs>
            <a:gs pos="45000">
              <a:srgbClr val="D4DAE3"/>
            </a:gs>
            <a:gs pos="71000">
              <a:srgbClr val="C6D6EB"/>
            </a:gs>
            <a:gs pos="91000">
              <a:srgbClr val="C6D7EB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8C2488-E1E9-41AD-BC4A-AD4EF79D8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2400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DDA3802-E351-4655-ABEB-08A6E1C3DCD7}"/>
              </a:ext>
            </a:extLst>
          </p:cNvPr>
          <p:cNvSpPr txBox="1">
            <a:spLocks/>
          </p:cNvSpPr>
          <p:nvPr/>
        </p:nvSpPr>
        <p:spPr>
          <a:xfrm>
            <a:off x="1097280" y="286604"/>
            <a:ext cx="10058400" cy="111137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Past Work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0707A2D-99F3-4744-9C6E-C42F803C2132}"/>
              </a:ext>
            </a:extLst>
          </p:cNvPr>
          <p:cNvCxnSpPr>
            <a:cxnSpLocks/>
          </p:cNvCxnSpPr>
          <p:nvPr/>
        </p:nvCxnSpPr>
        <p:spPr>
          <a:xfrm>
            <a:off x="836023" y="1183723"/>
            <a:ext cx="10319657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6676701-A0BD-41E5-A95A-201CBE4261E8}"/>
              </a:ext>
            </a:extLst>
          </p:cNvPr>
          <p:cNvSpPr>
            <a:spLocks noGrp="1"/>
          </p:cNvSpPr>
          <p:nvPr/>
        </p:nvSpPr>
        <p:spPr>
          <a:xfrm>
            <a:off x="813582" y="1650917"/>
            <a:ext cx="10540218" cy="402336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Barcode-based Electronic Toll Collection System 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Calm active infrared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VPS-technique (Vehicle Positioning System)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RFID-based Electronic Toll Collection System </a:t>
            </a:r>
            <a:b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1960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1D8D5"/>
            </a:gs>
            <a:gs pos="45000">
              <a:srgbClr val="D4DAE3"/>
            </a:gs>
            <a:gs pos="71000">
              <a:srgbClr val="C6D6EB"/>
            </a:gs>
            <a:gs pos="91000">
              <a:srgbClr val="C6D7EB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8C2488-E1E9-41AD-BC4A-AD4EF79D8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2400" dirty="0">
                <a:solidFill>
                  <a:srgbClr val="002060"/>
                </a:solidFill>
              </a:rPr>
              <a:t>2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DDA3802-E351-4655-ABEB-08A6E1C3DCD7}"/>
              </a:ext>
            </a:extLst>
          </p:cNvPr>
          <p:cNvSpPr txBox="1">
            <a:spLocks/>
          </p:cNvSpPr>
          <p:nvPr/>
        </p:nvSpPr>
        <p:spPr>
          <a:xfrm>
            <a:off x="1097280" y="286604"/>
            <a:ext cx="10058400" cy="111137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0707A2D-99F3-4744-9C6E-C42F803C2132}"/>
              </a:ext>
            </a:extLst>
          </p:cNvPr>
          <p:cNvCxnSpPr>
            <a:cxnSpLocks/>
          </p:cNvCxnSpPr>
          <p:nvPr/>
        </p:nvCxnSpPr>
        <p:spPr>
          <a:xfrm>
            <a:off x="836023" y="1183723"/>
            <a:ext cx="10319657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33525BF-EC97-44D7-AE35-9DD32AF849CC}"/>
              </a:ext>
            </a:extLst>
          </p:cNvPr>
          <p:cNvSpPr>
            <a:spLocks noGrp="1"/>
          </p:cNvSpPr>
          <p:nvPr/>
        </p:nvSpPr>
        <p:spPr>
          <a:xfrm>
            <a:off x="580572" y="2075764"/>
            <a:ext cx="5515428" cy="2661194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Reduce Traffic Problems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Transparency of the toll collection system 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consuming </a:t>
            </a:r>
          </a:p>
          <a:p>
            <a:pPr marL="0" indent="0">
              <a:lnSpc>
                <a:spcPct val="200000"/>
              </a:lnSpc>
              <a:buNone/>
            </a:pP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5">
            <a:extLst>
              <a:ext uri="{FF2B5EF4-FFF2-40B4-BE49-F238E27FC236}">
                <a16:creationId xmlns:a16="http://schemas.microsoft.com/office/drawing/2014/main" id="{33F64439-F3CF-41A6-BB84-632062C2F849}"/>
              </a:ext>
            </a:extLst>
          </p:cNvPr>
          <p:cNvSpPr txBox="1"/>
          <p:nvPr/>
        </p:nvSpPr>
        <p:spPr>
          <a:xfrm>
            <a:off x="7344438" y="5019683"/>
            <a:ext cx="4009362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2060"/>
                </a:solidFill>
              </a:rPr>
              <a:t>Figure 1: Manually toll collection system 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FC79427-A3A6-4924-B29B-5476FC7E3B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4686" y="1589324"/>
            <a:ext cx="5733143" cy="3254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575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1D8D5"/>
            </a:gs>
            <a:gs pos="45000">
              <a:srgbClr val="D4DAE3"/>
            </a:gs>
            <a:gs pos="71000">
              <a:srgbClr val="C6D6EB"/>
            </a:gs>
            <a:gs pos="91000">
              <a:srgbClr val="C6D7EB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8C2488-E1E9-41AD-BC4A-AD4EF79D8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2400" dirty="0">
                <a:solidFill>
                  <a:srgbClr val="002060"/>
                </a:solidFill>
              </a:rPr>
              <a:t>2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DDA3802-E351-4655-ABEB-08A6E1C3DCD7}"/>
              </a:ext>
            </a:extLst>
          </p:cNvPr>
          <p:cNvSpPr txBox="1">
            <a:spLocks/>
          </p:cNvSpPr>
          <p:nvPr/>
        </p:nvSpPr>
        <p:spPr>
          <a:xfrm>
            <a:off x="1097280" y="286604"/>
            <a:ext cx="10058400" cy="111137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Contribution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0707A2D-99F3-4744-9C6E-C42F803C2132}"/>
              </a:ext>
            </a:extLst>
          </p:cNvPr>
          <p:cNvCxnSpPr>
            <a:cxnSpLocks/>
          </p:cNvCxnSpPr>
          <p:nvPr/>
        </p:nvCxnSpPr>
        <p:spPr>
          <a:xfrm>
            <a:off x="836023" y="1183723"/>
            <a:ext cx="10319657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A4710A65-611C-4DC3-9E6C-EBE9E210C849}"/>
              </a:ext>
            </a:extLst>
          </p:cNvPr>
          <p:cNvSpPr>
            <a:spLocks noGrp="1"/>
          </p:cNvSpPr>
          <p:nvPr/>
        </p:nvSpPr>
        <p:spPr>
          <a:xfrm>
            <a:off x="447904" y="1419493"/>
            <a:ext cx="5822267" cy="414196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Introduce Electronic Toll Plaza in Bangladesh 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compare various aspects of this existing system with the electronic toll collection system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find out the economic benefits of introducing Electronic Toll Collection</a:t>
            </a:r>
            <a:b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1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1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F72558C-631D-404E-82E8-CB87475AC0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0171" y="1419493"/>
            <a:ext cx="5657059" cy="3780515"/>
          </a:xfrm>
          <a:prstGeom prst="rect">
            <a:avLst/>
          </a:prstGeom>
        </p:spPr>
      </p:pic>
      <p:sp>
        <p:nvSpPr>
          <p:cNvPr id="20" name="TextBox 7">
            <a:extLst>
              <a:ext uri="{FF2B5EF4-FFF2-40B4-BE49-F238E27FC236}">
                <a16:creationId xmlns:a16="http://schemas.microsoft.com/office/drawing/2014/main" id="{0D886AE4-D85D-4C61-B541-28DBF7627129}"/>
              </a:ext>
            </a:extLst>
          </p:cNvPr>
          <p:cNvSpPr txBox="1"/>
          <p:nvPr/>
        </p:nvSpPr>
        <p:spPr>
          <a:xfrm>
            <a:off x="6613128" y="5304945"/>
            <a:ext cx="5212502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2060"/>
                </a:solidFill>
              </a:rPr>
              <a:t>Figure 2: </a:t>
            </a:r>
            <a:r>
              <a:rPr lang="en-GB" dirty="0">
                <a:solidFill>
                  <a:srgbClr val="002060"/>
                </a:solidFill>
              </a:rPr>
              <a:t>RFID technology for Electronic Toll Collection </a:t>
            </a:r>
            <a:endParaRPr lang="en-US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03251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1D8D5"/>
            </a:gs>
            <a:gs pos="45000">
              <a:srgbClr val="D4DAE3"/>
            </a:gs>
            <a:gs pos="71000">
              <a:srgbClr val="C6D6EB"/>
            </a:gs>
            <a:gs pos="91000">
              <a:srgbClr val="C6D7EB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92514C-218C-4EFE-BB72-A3E89678C143}"/>
              </a:ext>
            </a:extLst>
          </p:cNvPr>
          <p:cNvSpPr/>
          <p:nvPr/>
        </p:nvSpPr>
        <p:spPr>
          <a:xfrm>
            <a:off x="660572" y="2449780"/>
            <a:ext cx="1049002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0" dirty="0">
                <a:solidFill>
                  <a:srgbClr val="00206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602603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882</TotalTime>
  <Words>266</Words>
  <Application>Microsoft Office PowerPoint</Application>
  <PresentationFormat>Widescreen</PresentationFormat>
  <Paragraphs>59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Sadman Chowdhury</dc:creator>
  <cp:lastModifiedBy>R Samrat Shovon</cp:lastModifiedBy>
  <cp:revision>75</cp:revision>
  <dcterms:created xsi:type="dcterms:W3CDTF">2018-11-08T14:15:05Z</dcterms:created>
  <dcterms:modified xsi:type="dcterms:W3CDTF">2019-10-21T05:23:37Z</dcterms:modified>
</cp:coreProperties>
</file>